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2600" b="1">
                <a:solidFill>
                  <a:srgbClr val="0B3D91"/>
                </a:solidFill>
              </a:rPr>
              <a:t>RSMeans Description-Match Scoring  - 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"/>
            <a:ext cx="11430000" cy="292608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</a:rPr>
              <a:t>Wall Insulation Retrofit  |  IncreaseInsulationRValueForExteriorWalls  |  resources/call_rsmeans_api.py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43000"/>
            <a:ext cx="2057400" cy="868680"/>
          </a:xfrm>
          <a:prstGeom prst="roundRect">
            <a:avLst/>
          </a:prstGeom>
          <a:solidFill>
            <a:srgbClr val="F2F5FA"/>
          </a:solidFill>
          <a:ln w="15875"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00" b="1">
                <a:solidFill>
                  <a:srgbClr val="101010"/>
                </a:solidFill>
              </a:rPr>
              <a:t>Build search term</a:t>
            </a:r>
          </a:p>
          <a:p>
            <a:pPr algn="ctr"/>
            <a:r>
              <a:rPr sz="1000" b="0">
                <a:solidFill>
                  <a:srgbClr val="101010"/>
                </a:solidFill>
              </a:rPr>
              <a:t>material name from
cloned insulation layer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87752" y="1143000"/>
            <a:ext cx="2057400" cy="868680"/>
          </a:xfrm>
          <a:prstGeom prst="roundRect">
            <a:avLst/>
          </a:prstGeom>
          <a:solidFill>
            <a:srgbClr val="F2F5FA"/>
          </a:solidFill>
          <a:ln w="15875"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00" b="1">
                <a:solidFill>
                  <a:srgbClr val="101010"/>
                </a:solidFill>
              </a:rPr>
              <a:t>Query RSMeans</a:t>
            </a:r>
          </a:p>
          <a:p>
            <a:pPr algn="ctr"/>
            <a:r>
              <a:rPr sz="1000" b="0">
                <a:solidFill>
                  <a:srgbClr val="101010"/>
                </a:solidFill>
              </a:rPr>
              <a:t>fetch candidates;
drop demolition / disallowed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09744" y="1143000"/>
            <a:ext cx="2057400" cy="868680"/>
          </a:xfrm>
          <a:prstGeom prst="roundRect">
            <a:avLst/>
          </a:prstGeom>
          <a:solidFill>
            <a:srgbClr val="F2F5FA"/>
          </a:solidFill>
          <a:ln w="15875"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00" b="1">
                <a:solidFill>
                  <a:srgbClr val="101010"/>
                </a:solidFill>
              </a:rPr>
              <a:t>Normalize + tokenize</a:t>
            </a:r>
          </a:p>
          <a:p>
            <a:pPr algn="ctr"/>
            <a:r>
              <a:rPr sz="1000" b="0">
                <a:solidFill>
                  <a:srgbClr val="101010"/>
                </a:solidFill>
              </a:rPr>
              <a:t>lowercase, strip punct.;
tokens &gt; 2 chars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31736" y="1143000"/>
            <a:ext cx="2057400" cy="868680"/>
          </a:xfrm>
          <a:prstGeom prst="roundRect">
            <a:avLst/>
          </a:prstGeom>
          <a:solidFill>
            <a:srgbClr val="F2F5FA"/>
          </a:solidFill>
          <a:ln w="15875"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00" b="1">
                <a:solidFill>
                  <a:srgbClr val="101010"/>
                </a:solidFill>
              </a:rPr>
              <a:t>Score each candidate</a:t>
            </a:r>
          </a:p>
          <a:p>
            <a:pPr algn="ctr"/>
            <a:r>
              <a:rPr sz="1000" b="0">
                <a:solidFill>
                  <a:srgbClr val="101010"/>
                </a:solidFill>
              </a:rPr>
              <a:t>additive rules
(see panel below)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53728" y="1143000"/>
            <a:ext cx="2057400" cy="868680"/>
          </a:xfrm>
          <a:prstGeom prst="roundRect">
            <a:avLst/>
          </a:prstGeom>
          <a:solidFill>
            <a:srgbClr val="F2F5FA"/>
          </a:solidFill>
          <a:ln w="15875"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00" b="1">
                <a:solidFill>
                  <a:srgbClr val="101010"/>
                </a:solidFill>
              </a:rPr>
              <a:t>Sort desc.
&amp; pick best</a:t>
            </a:r>
          </a:p>
          <a:p>
            <a:pPr algn="ctr"/>
            <a:r>
              <a:rPr sz="1000" b="0">
                <a:solidFill>
                  <a:srgbClr val="101010"/>
                </a:solidFill>
              </a:rPr>
              <a:t>best score -&gt; decision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23160" y="1577340.0"/>
            <a:ext cx="164592" cy="0.0"/>
          </a:xfrm>
          <a:prstGeom prst="line">
            <a:avLst/>
          </a:prstGeom>
          <a:ln w="22225">
            <a:solidFill>
              <a:srgbClr val="0B3D9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645152" y="1577340.0"/>
            <a:ext cx="164592" cy="0.0"/>
          </a:xfrm>
          <a:prstGeom prst="line">
            <a:avLst/>
          </a:prstGeom>
          <a:ln w="22225">
            <a:solidFill>
              <a:srgbClr val="0B3D9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867144" y="1577340.0"/>
            <a:ext cx="164592" cy="0.0"/>
          </a:xfrm>
          <a:prstGeom prst="line">
            <a:avLst/>
          </a:prstGeom>
          <a:ln w="22225">
            <a:solidFill>
              <a:srgbClr val="0B3D9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089136" y="1577340.0"/>
            <a:ext cx="164592" cy="0.0"/>
          </a:xfrm>
          <a:prstGeom prst="line">
            <a:avLst/>
          </a:prstGeom>
          <a:ln w="22225">
            <a:solidFill>
              <a:srgbClr val="0B3D9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Diamond 12"/>
          <p:cNvSpPr/>
          <p:nvPr/>
        </p:nvSpPr>
        <p:spPr>
          <a:xfrm>
            <a:off x="9093708" y="2377440"/>
            <a:ext cx="2377440" cy="1188720"/>
          </a:xfrm>
          <a:prstGeom prst="diamond">
            <a:avLst/>
          </a:prstGeom>
          <a:solidFill>
            <a:srgbClr val="FDF3DC"/>
          </a:solidFill>
          <a:ln w="15875">
            <a:solidFill>
              <a:srgbClr val="C87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00" b="1">
                <a:solidFill>
                  <a:srgbClr val="101010"/>
                </a:solidFill>
              </a:rPr>
              <a:t>best score &gt;= 70 ?</a:t>
            </a:r>
          </a:p>
          <a:p>
            <a:pPr algn="ctr"/>
            <a:r>
              <a:rPr sz="1100" b="0">
                <a:solidFill>
                  <a:srgbClr val="101010"/>
                </a:solidFill>
              </a:rPr>
              <a:t>(MIN_ACCEPTABLE_MATCH_SCORE)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282428.0" y="2011680"/>
            <a:ext cx="0.0" cy="365760"/>
          </a:xfrm>
          <a:prstGeom prst="line">
            <a:avLst/>
          </a:prstGeom>
          <a:ln w="22225">
            <a:solidFill>
              <a:srgbClr val="0B3D9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1882628" y="2468880"/>
            <a:ext cx="2331720" cy="1005840"/>
          </a:xfrm>
          <a:prstGeom prst="roundRect">
            <a:avLst/>
          </a:prstGeom>
          <a:solidFill>
            <a:srgbClr val="E6F4EA"/>
          </a:solidFill>
          <a:ln w="15875">
            <a:solidFill>
              <a:srgbClr val="1F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00" b="1">
                <a:solidFill>
                  <a:srgbClr val="101010"/>
                </a:solidFill>
              </a:rPr>
              <a:t>Use top-scoring line</a:t>
            </a:r>
          </a:p>
          <a:p>
            <a:pPr algn="ctr"/>
            <a:r>
              <a:rPr sz="1000" b="0">
                <a:solidFill>
                  <a:srgbClr val="101010"/>
                </a:solidFill>
              </a:rPr>
              <a:t>RSMeans cost line returned
to measure for cost calc.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1471148.0" y="2971800.0"/>
            <a:ext cx="411480.0" cy="0.0"/>
          </a:xfrm>
          <a:prstGeom prst="line">
            <a:avLst/>
          </a:prstGeom>
          <a:ln w="25400">
            <a:solidFill>
              <a:srgbClr val="1F7A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1489436" y="2679192"/>
            <a:ext cx="411480" cy="25603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100" b="1">
                <a:solidFill>
                  <a:srgbClr val="1F7A3D"/>
                </a:solidFill>
              </a:rPr>
              <a:t>yes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0508" y="2468880"/>
            <a:ext cx="2331720" cy="1005840"/>
          </a:xfrm>
          <a:prstGeom prst="roundRect">
            <a:avLst/>
          </a:prstGeom>
          <a:solidFill>
            <a:srgbClr val="FBE9E7"/>
          </a:solidFill>
          <a:ln w="15875">
            <a:solidFill>
              <a:srgbClr val="B0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00" b="1">
                <a:solidFill>
                  <a:srgbClr val="101010"/>
                </a:solidFill>
              </a:rPr>
              <a:t>Hardcoded fallback ID</a:t>
            </a:r>
          </a:p>
          <a:p>
            <a:pPr algn="ctr"/>
            <a:r>
              <a:rPr sz="1000" b="0">
                <a:solidFill>
                  <a:srgbClr val="101010"/>
                </a:solidFill>
              </a:rPr>
              <a:t>Verified 2024-an catalog
ID for retrofit type.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8682228.0" y="2971800.0"/>
            <a:ext cx="411480.0" cy="0.0"/>
          </a:xfrm>
          <a:prstGeom prst="line">
            <a:avLst/>
          </a:prstGeom>
          <a:ln w="25400">
            <a:solidFill>
              <a:srgbClr val="B02A2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682228" y="2679192"/>
            <a:ext cx="365760" cy="25603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r"/>
            <a:r>
              <a:rPr sz="1100" b="1">
                <a:solidFill>
                  <a:srgbClr val="B02A2A"/>
                </a:solidFill>
              </a:rPr>
              <a:t>no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977639"/>
            <a:ext cx="11430000" cy="2331720"/>
          </a:xfrm>
          <a:prstGeom prst="rect">
            <a:avLst/>
          </a:prstGeom>
          <a:solidFill>
            <a:srgbClr val="FFFFFF"/>
          </a:solidFill>
          <a:ln w="15875"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0" b="0">
                <a:solidFill>
                  <a:srgbClr val="101010"/>
                </a:solidFill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023359"/>
            <a:ext cx="11155680" cy="292608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300" b="1">
                <a:solidFill>
                  <a:srgbClr val="0B3D91"/>
                </a:solidFill>
              </a:rPr>
              <a:t>Additive scoring rules applied to each candidate  (final score clamped to 0-100)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389119"/>
            <a:ext cx="5486400" cy="25603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100" b="1">
                <a:solidFill>
                  <a:srgbClr val="1F7A3D"/>
                </a:solidFill>
              </a:rPr>
              <a:t>Positive contributions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4389119"/>
            <a:ext cx="5486400" cy="25603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100" b="1">
                <a:solidFill>
                  <a:srgbClr val="B02A2A"/>
                </a:solidFill>
              </a:rPr>
              <a:t>Penalties (cross-type guards)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681727"/>
            <a:ext cx="640080" cy="274320"/>
          </a:xfrm>
          <a:prstGeom prst="rect">
            <a:avLst/>
          </a:prstGeom>
          <a:solidFill>
            <a:srgbClr val="F2F5FA"/>
          </a:solidFill>
          <a:ln>
            <a:solidFill>
              <a:srgbClr val="CCD3E0"/>
            </a:solidFill>
          </a:ln>
        </p:spPr>
        <p:txBody>
          <a:bodyPr wrap="square" lIns="54864" rIns="54864" tIns="18288" bIns="18288">
            <a:spAutoFit/>
          </a:bodyPr>
          <a:lstStyle/>
          <a:p>
            <a:pPr algn="ctr"/>
            <a:r>
              <a:rPr sz="1050" b="1">
                <a:solidFill>
                  <a:srgbClr val="1F7A3D"/>
                </a:solidFill>
              </a:rPr>
              <a:t>+100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4681727"/>
            <a:ext cx="4800600" cy="27432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000" b="0">
                <a:solidFill>
                  <a:srgbClr val="101010"/>
                </a:solidFill>
              </a:rPr>
              <a:t>exact normalized match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956047"/>
            <a:ext cx="640080" cy="274320"/>
          </a:xfrm>
          <a:prstGeom prst="rect">
            <a:avLst/>
          </a:prstGeom>
          <a:solidFill>
            <a:srgbClr val="F2F5FA"/>
          </a:solidFill>
          <a:ln>
            <a:solidFill>
              <a:srgbClr val="CCD3E0"/>
            </a:solidFill>
          </a:ln>
        </p:spPr>
        <p:txBody>
          <a:bodyPr wrap="square" lIns="54864" rIns="54864" tIns="18288" bIns="18288">
            <a:spAutoFit/>
          </a:bodyPr>
          <a:lstStyle/>
          <a:p>
            <a:pPr algn="ctr"/>
            <a:r>
              <a:rPr sz="1050" b="1">
                <a:solidFill>
                  <a:srgbClr val="1F7A3D"/>
                </a:solidFill>
              </a:rPr>
              <a:t>+60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956047"/>
            <a:ext cx="4800600" cy="27432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000" b="0">
                <a:solidFill>
                  <a:srgbClr val="101010"/>
                </a:solidFill>
              </a:rPr>
              <a:t>material name is substring of description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230367"/>
            <a:ext cx="640080" cy="274320"/>
          </a:xfrm>
          <a:prstGeom prst="rect">
            <a:avLst/>
          </a:prstGeom>
          <a:solidFill>
            <a:srgbClr val="F2F5FA"/>
          </a:solidFill>
          <a:ln>
            <a:solidFill>
              <a:srgbClr val="CCD3E0"/>
            </a:solidFill>
          </a:ln>
        </p:spPr>
        <p:txBody>
          <a:bodyPr wrap="square" lIns="54864" rIns="54864" tIns="18288" bIns="18288">
            <a:spAutoFit/>
          </a:bodyPr>
          <a:lstStyle/>
          <a:p>
            <a:pPr algn="ctr"/>
            <a:r>
              <a:rPr sz="1050" b="1">
                <a:solidFill>
                  <a:srgbClr val="1F7A3D"/>
                </a:solidFill>
              </a:rPr>
              <a:t>+15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5230367"/>
            <a:ext cx="4800600" cy="27432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000" b="0">
                <a:solidFill>
                  <a:srgbClr val="101010"/>
                </a:solidFill>
              </a:rPr>
              <a:t>per overlapping token (&gt;2 chars)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5504687"/>
            <a:ext cx="640080" cy="274320"/>
          </a:xfrm>
          <a:prstGeom prst="rect">
            <a:avLst/>
          </a:prstGeom>
          <a:solidFill>
            <a:srgbClr val="F2F5FA"/>
          </a:solidFill>
          <a:ln>
            <a:solidFill>
              <a:srgbClr val="CCD3E0"/>
            </a:solidFill>
          </a:ln>
        </p:spPr>
        <p:txBody>
          <a:bodyPr wrap="square" lIns="54864" rIns="54864" tIns="18288" bIns="18288">
            <a:spAutoFit/>
          </a:bodyPr>
          <a:lstStyle/>
          <a:p>
            <a:pPr algn="ctr"/>
            <a:r>
              <a:rPr sz="1050" b="1">
                <a:solidFill>
                  <a:srgbClr val="1F7A3D"/>
                </a:solidFill>
              </a:rPr>
              <a:t>+40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5504687"/>
            <a:ext cx="4800600" cy="27432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000" b="0">
                <a:solidFill>
                  <a:srgbClr val="101010"/>
                </a:solidFill>
              </a:rPr>
              <a:t>'polyisocyanurate' present (polyiso target)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5779007"/>
            <a:ext cx="640080" cy="274320"/>
          </a:xfrm>
          <a:prstGeom prst="rect">
            <a:avLst/>
          </a:prstGeom>
          <a:solidFill>
            <a:srgbClr val="F2F5FA"/>
          </a:solidFill>
          <a:ln>
            <a:solidFill>
              <a:srgbClr val="CCD3E0"/>
            </a:solidFill>
          </a:ln>
        </p:spPr>
        <p:txBody>
          <a:bodyPr wrap="square" lIns="54864" rIns="54864" tIns="18288" bIns="18288">
            <a:spAutoFit/>
          </a:bodyPr>
          <a:lstStyle/>
          <a:p>
            <a:pPr algn="ctr"/>
            <a:r>
              <a:rPr sz="1050" b="1">
                <a:solidFill>
                  <a:srgbClr val="1F7A3D"/>
                </a:solidFill>
              </a:rPr>
              <a:t>+30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5779007"/>
            <a:ext cx="4800600" cy="27432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000" b="0">
                <a:solidFill>
                  <a:srgbClr val="101010"/>
                </a:solidFill>
              </a:rPr>
              <a:t>'polyiso' present (polyiso target)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053327"/>
            <a:ext cx="640080" cy="274320"/>
          </a:xfrm>
          <a:prstGeom prst="rect">
            <a:avLst/>
          </a:prstGeom>
          <a:solidFill>
            <a:srgbClr val="F2F5FA"/>
          </a:solidFill>
          <a:ln>
            <a:solidFill>
              <a:srgbClr val="CCD3E0"/>
            </a:solidFill>
          </a:ln>
        </p:spPr>
        <p:txBody>
          <a:bodyPr wrap="square" lIns="54864" rIns="54864" tIns="18288" bIns="18288">
            <a:spAutoFit/>
          </a:bodyPr>
          <a:lstStyle/>
          <a:p>
            <a:pPr algn="ctr"/>
            <a:r>
              <a:rPr sz="1050" b="1">
                <a:solidFill>
                  <a:srgbClr val="555555"/>
                </a:solidFill>
              </a:rPr>
              <a:t>+eps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88720" y="6053327"/>
            <a:ext cx="4800600" cy="27432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000" b="0">
                <a:solidFill>
                  <a:srgbClr val="101010"/>
                </a:solidFill>
              </a:rPr>
              <a:t>length tiebreak: min(len,120)/120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72200" y="4681727"/>
            <a:ext cx="640080" cy="274320"/>
          </a:xfrm>
          <a:prstGeom prst="rect">
            <a:avLst/>
          </a:prstGeom>
          <a:solidFill>
            <a:srgbClr val="F2F5FA"/>
          </a:solidFill>
          <a:ln>
            <a:solidFill>
              <a:srgbClr val="CCD3E0"/>
            </a:solidFill>
          </a:ln>
        </p:spPr>
        <p:txBody>
          <a:bodyPr wrap="square" lIns="54864" rIns="54864" tIns="18288" bIns="18288">
            <a:spAutoFit/>
          </a:bodyPr>
          <a:lstStyle/>
          <a:p>
            <a:pPr algn="ctr"/>
            <a:r>
              <a:rPr sz="1050" b="1">
                <a:solidFill>
                  <a:srgbClr val="B02A2A"/>
                </a:solidFill>
              </a:rPr>
              <a:t>-10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4681727"/>
            <a:ext cx="4800600" cy="27432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000" b="0">
                <a:solidFill>
                  <a:srgbClr val="101010"/>
                </a:solidFill>
              </a:rPr>
              <a:t>'wall' missing from description (wall target)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72200" y="4956047"/>
            <a:ext cx="640080" cy="274320"/>
          </a:xfrm>
          <a:prstGeom prst="rect">
            <a:avLst/>
          </a:prstGeom>
          <a:solidFill>
            <a:srgbClr val="F2F5FA"/>
          </a:solidFill>
          <a:ln>
            <a:solidFill>
              <a:srgbClr val="CCD3E0"/>
            </a:solidFill>
          </a:ln>
        </p:spPr>
        <p:txBody>
          <a:bodyPr wrap="square" lIns="54864" rIns="54864" tIns="18288" bIns="18288">
            <a:spAutoFit/>
          </a:bodyPr>
          <a:lstStyle/>
          <a:p>
            <a:pPr algn="ctr"/>
            <a:r>
              <a:rPr sz="1050" b="1">
                <a:solidFill>
                  <a:srgbClr val="B02A2A"/>
                </a:solidFill>
              </a:rPr>
              <a:t>-10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4956047"/>
            <a:ext cx="4800600" cy="27432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000" b="0">
                <a:solidFill>
                  <a:srgbClr val="101010"/>
                </a:solidFill>
              </a:rPr>
              <a:t>'roof' missing from description (roof target)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72200" y="5230367"/>
            <a:ext cx="640080" cy="274320"/>
          </a:xfrm>
          <a:prstGeom prst="rect">
            <a:avLst/>
          </a:prstGeom>
          <a:solidFill>
            <a:srgbClr val="F2F5FA"/>
          </a:solidFill>
          <a:ln>
            <a:solidFill>
              <a:srgbClr val="CCD3E0"/>
            </a:solidFill>
          </a:ln>
        </p:spPr>
        <p:txBody>
          <a:bodyPr wrap="square" lIns="54864" rIns="54864" tIns="18288" bIns="18288">
            <a:spAutoFit/>
          </a:bodyPr>
          <a:lstStyle/>
          <a:p>
            <a:pPr algn="ctr"/>
            <a:r>
              <a:rPr sz="1050" b="1">
                <a:solidFill>
                  <a:srgbClr val="B02A2A"/>
                </a:solidFill>
              </a:rPr>
              <a:t>-20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230367"/>
            <a:ext cx="4800600" cy="27432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000" b="0">
                <a:solidFill>
                  <a:srgbClr val="101010"/>
                </a:solidFill>
              </a:rPr>
              <a:t>'insulation' present but &lt;2 token overlap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72200" y="5504687"/>
            <a:ext cx="640080" cy="274320"/>
          </a:xfrm>
          <a:prstGeom prst="rect">
            <a:avLst/>
          </a:prstGeom>
          <a:solidFill>
            <a:srgbClr val="F2F5FA"/>
          </a:solidFill>
          <a:ln>
            <a:solidFill>
              <a:srgbClr val="CCD3E0"/>
            </a:solidFill>
          </a:ln>
        </p:spPr>
        <p:txBody>
          <a:bodyPr wrap="square" lIns="54864" rIns="54864" tIns="18288" bIns="18288">
            <a:spAutoFit/>
          </a:bodyPr>
          <a:lstStyle/>
          <a:p>
            <a:pPr algn="ctr"/>
            <a:r>
              <a:rPr sz="1050" b="1">
                <a:solidFill>
                  <a:srgbClr val="B02A2A"/>
                </a:solidFill>
              </a:rPr>
              <a:t>-25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5504687"/>
            <a:ext cx="4800600" cy="27432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000" b="0">
                <a:solidFill>
                  <a:srgbClr val="101010"/>
                </a:solidFill>
              </a:rPr>
              <a:t>roof material matched a wall description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72200" y="5779007"/>
            <a:ext cx="640080" cy="274320"/>
          </a:xfrm>
          <a:prstGeom prst="rect">
            <a:avLst/>
          </a:prstGeom>
          <a:solidFill>
            <a:srgbClr val="F2F5FA"/>
          </a:solidFill>
          <a:ln>
            <a:solidFill>
              <a:srgbClr val="CCD3E0"/>
            </a:solidFill>
          </a:ln>
        </p:spPr>
        <p:txBody>
          <a:bodyPr wrap="square" lIns="54864" rIns="54864" tIns="18288" bIns="18288">
            <a:spAutoFit/>
          </a:bodyPr>
          <a:lstStyle/>
          <a:p>
            <a:pPr algn="ctr"/>
            <a:r>
              <a:rPr sz="1050" b="1">
                <a:solidFill>
                  <a:srgbClr val="B02A2A"/>
                </a:solidFill>
              </a:rPr>
              <a:t>-30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5779007"/>
            <a:ext cx="4800600" cy="27432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000" b="0">
                <a:solidFill>
                  <a:srgbClr val="101010"/>
                </a:solidFill>
              </a:rPr>
              <a:t>polyiso target but neither keyword present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473952"/>
            <a:ext cx="11430000" cy="27432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</a:rPr>
              <a:t>Source: _score_rsmeans_candidate() in call_rsmeans_api.py (L298-351)   |   Threshold MIN_ACCEPTABLE_MATCH_SCORE at L78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